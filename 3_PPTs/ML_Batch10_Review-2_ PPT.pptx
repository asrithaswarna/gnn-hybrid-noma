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libri (MS)" charset="1" panose="020F0502020204030204"/>
      <p:regular r:id="rId17"/>
    </p:embeddedFont>
    <p:embeddedFont>
      <p:font typeface="Calibri (MS) Italics" charset="1" panose="020F05020202040A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1588770"/>
            <a:ext cx="1536192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EEAD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PROGRESS EVALUATION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436495"/>
            <a:ext cx="1536192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GNN-Based Dynamic User Pairing and Slot Assignment for Hybrid NOMA Networks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7075170"/>
            <a:ext cx="5106572" cy="206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C9D6E6"/>
                </a:solidFill>
                <a:latin typeface="Calibri (MS)"/>
                <a:ea typeface="Calibri (MS)"/>
                <a:cs typeface="Calibri (MS)"/>
                <a:sym typeface="Calibri (MS)"/>
              </a:rPr>
              <a:t>Bagili Akshaya  (2520040084)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C9D6E6"/>
                </a:solidFill>
                <a:latin typeface="Calibri (MS)"/>
                <a:ea typeface="Calibri (MS)"/>
                <a:cs typeface="Calibri (MS)"/>
                <a:sym typeface="Calibri (MS)"/>
              </a:rPr>
              <a:t>Monica Raghini Chelle (2520040093)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C9D6E6"/>
                </a:solidFill>
                <a:latin typeface="Calibri (MS)"/>
                <a:ea typeface="Calibri (MS)"/>
                <a:cs typeface="Calibri (MS)"/>
                <a:sym typeface="Calibri (MS)"/>
              </a:rPr>
              <a:t>Swarna Asritha(2520040114)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2400" y="7120890"/>
            <a:ext cx="8342138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C9D6E6"/>
                </a:solidFill>
                <a:latin typeface="Calibri (MS)"/>
                <a:ea typeface="Calibri (MS)"/>
                <a:cs typeface="Calibri (MS)"/>
                <a:sym typeface="Calibri (MS)"/>
              </a:rPr>
              <a:t>Guide: Mr. N Lava Prasad, Assistant Professor</a:t>
            </a:r>
          </a:p>
          <a:p>
            <a:pPr algn="l">
              <a:lnSpc>
                <a:spcPts val="312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097280"/>
            <a:chOff x="0" y="0"/>
            <a:chExt cx="214579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45792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44800" y="9471660"/>
            <a:ext cx="16459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2 / 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84583" y="2181863"/>
            <a:ext cx="5146043" cy="3134363"/>
            <a:chOff x="0" y="0"/>
            <a:chExt cx="6861391" cy="41791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61429" cy="4179189"/>
            </a:xfrm>
            <a:custGeom>
              <a:avLst/>
              <a:gdLst/>
              <a:ahLst/>
              <a:cxnLst/>
              <a:rect r="r" b="b" t="t" l="l"/>
              <a:pathLst>
                <a:path h="417918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2402205"/>
            <a:ext cx="438912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NOMA lets users share a slot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3040" y="3691890"/>
            <a:ext cx="438912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Serves more users than there are orthogonal slots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70983" y="2181863"/>
            <a:ext cx="5146043" cy="3134363"/>
            <a:chOff x="0" y="0"/>
            <a:chExt cx="6861391" cy="41791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61429" cy="4179189"/>
            </a:xfrm>
            <a:custGeom>
              <a:avLst/>
              <a:gdLst/>
              <a:ahLst/>
              <a:cxnLst/>
              <a:rect r="r" b="b" t="t" l="l"/>
              <a:pathLst>
                <a:path h="417918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949440" y="2402205"/>
            <a:ext cx="438912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choice of pair matters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49440" y="3691890"/>
            <a:ext cx="438912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Poor pairs cause interference and user outage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57383" y="2181863"/>
            <a:ext cx="5146043" cy="3134363"/>
            <a:chOff x="0" y="0"/>
            <a:chExt cx="6861391" cy="4179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61429" cy="4179189"/>
            </a:xfrm>
            <a:custGeom>
              <a:avLst/>
              <a:gdLst/>
              <a:ahLst/>
              <a:cxnLst/>
              <a:rect r="r" b="b" t="t" l="l"/>
              <a:pathLst>
                <a:path h="4179189" w="6861429">
                  <a:moveTo>
                    <a:pt x="0" y="0"/>
                  </a:moveTo>
                  <a:lnTo>
                    <a:pt x="6861429" y="0"/>
                  </a:lnTo>
                  <a:lnTo>
                    <a:pt x="6861429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435840" y="2402205"/>
            <a:ext cx="438912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Trying every pairing is slow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35840" y="3691890"/>
            <a:ext cx="438912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945 possible pairings for just 10 users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7280" y="5968365"/>
            <a:ext cx="7315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Goal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7280" y="6699885"/>
            <a:ext cx="16093440" cy="262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Learn user pairing and slot preference with a GNN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Match the search-based reference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Run much faster than exhaustive search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Keep sum rate high, outage low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097280"/>
            <a:chOff x="0" y="0"/>
            <a:chExt cx="214579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45792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Setup &amp; Dataset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44800" y="9471660"/>
            <a:ext cx="16459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3 / 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7280" y="2011680"/>
            <a:ext cx="6766560" cy="6766560"/>
            <a:chOff x="0" y="0"/>
            <a:chExt cx="9022080" cy="9022080"/>
          </a:xfrm>
        </p:grpSpPr>
        <p:sp>
          <p:nvSpPr>
            <p:cNvPr name="Freeform 7" id="7" descr="/home/claude/u/ppt/media/image-3-1.png"/>
            <p:cNvSpPr/>
            <p:nvPr/>
          </p:nvSpPr>
          <p:spPr>
            <a:xfrm flipH="false" flipV="false" rot="0">
              <a:off x="0" y="0"/>
              <a:ext cx="9022080" cy="9022080"/>
            </a:xfrm>
            <a:custGeom>
              <a:avLst/>
              <a:gdLst/>
              <a:ahLst/>
              <a:cxnLst/>
              <a:rect r="r" b="b" t="t" l="l"/>
              <a:pathLst>
                <a:path h="902208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022080"/>
                  </a:lnTo>
                  <a:lnTo>
                    <a:pt x="0" y="9022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97280" y="8831580"/>
            <a:ext cx="67665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 network: 10 users, GNN pairs shown as lines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95360" y="1945005"/>
            <a:ext cx="859536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Network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95360" y="2686050"/>
            <a:ext cx="8595360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Single cell, 1 base station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10 users, 20–500 m from the BS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5 slots, 10 MHz band, 1 W total power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Path loss + Rayleigh fading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95360" y="5602605"/>
            <a:ext cx="859536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(synthetic)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95360" y="6362700"/>
            <a:ext cx="8595360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Generated by the program; no external dataset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200 train / 40 validation / 50 test networks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Node: position, distance, gain, rate need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Edge: distance, gain ratio, correlation, interference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097280"/>
            <a:chOff x="0" y="0"/>
            <a:chExt cx="214579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45792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Methodology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44800" y="9471660"/>
            <a:ext cx="16459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4 / 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84583" y="2181863"/>
            <a:ext cx="4963163" cy="5328923"/>
            <a:chOff x="0" y="0"/>
            <a:chExt cx="6617551" cy="71052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17589" cy="7105269"/>
            </a:xfrm>
            <a:custGeom>
              <a:avLst/>
              <a:gdLst/>
              <a:ahLst/>
              <a:cxnLst/>
              <a:rect r="r" b="b" t="t" l="l"/>
              <a:pathLst>
                <a:path h="7105269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7105269"/>
                  </a:lnTo>
                  <a:lnTo>
                    <a:pt x="0" y="710526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2402205"/>
            <a:ext cx="420624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 Reference labels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3040" y="3427095"/>
            <a:ext cx="4206240" cy="388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Exhaustive search over all pairings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Gives pair and slot labels for training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035040" y="4206240"/>
            <a:ext cx="548640" cy="914400"/>
            <a:chOff x="0" y="0"/>
            <a:chExt cx="73152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73152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39"/>
                </a:lnSpc>
              </a:pPr>
              <a:r>
                <a:rPr lang="en-US" sz="5199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2423" y="2181863"/>
            <a:ext cx="4963163" cy="5328923"/>
            <a:chOff x="0" y="0"/>
            <a:chExt cx="6617551" cy="71052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17589" cy="7105269"/>
            </a:xfrm>
            <a:custGeom>
              <a:avLst/>
              <a:gdLst/>
              <a:ahLst/>
              <a:cxnLst/>
              <a:rect r="r" b="b" t="t" l="l"/>
              <a:pathLst>
                <a:path h="7105269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7105269"/>
                  </a:lnTo>
                  <a:lnTo>
                    <a:pt x="0" y="710526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7040880" y="2402205"/>
            <a:ext cx="420624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 GNN learns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40880" y="3427095"/>
            <a:ext cx="4206240" cy="388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Input: graph of users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Output: pair scores + slot preferences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Trained by imitating the labels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612880" y="4206240"/>
            <a:ext cx="548640" cy="914400"/>
            <a:chOff x="0" y="0"/>
            <a:chExt cx="73152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731520" cy="1343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39"/>
                </a:lnSpc>
              </a:pPr>
              <a:r>
                <a:rPr lang="en-US" sz="5199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40263" y="2181863"/>
            <a:ext cx="4963163" cy="5328923"/>
            <a:chOff x="0" y="0"/>
            <a:chExt cx="6617551" cy="71052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17589" cy="7105269"/>
            </a:xfrm>
            <a:custGeom>
              <a:avLst/>
              <a:gdLst/>
              <a:ahLst/>
              <a:cxnLst/>
              <a:rect r="r" b="b" t="t" l="l"/>
              <a:pathLst>
                <a:path h="7105269" w="6617589">
                  <a:moveTo>
                    <a:pt x="0" y="0"/>
                  </a:moveTo>
                  <a:lnTo>
                    <a:pt x="6617589" y="0"/>
                  </a:lnTo>
                  <a:lnTo>
                    <a:pt x="6617589" y="7105269"/>
                  </a:lnTo>
                  <a:lnTo>
                    <a:pt x="0" y="710526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618720" y="2402205"/>
            <a:ext cx="420624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 Scheduler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18720" y="3427095"/>
            <a:ext cx="4206240" cy="388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Greedy matching gives pairs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Greedy step gives one pair per slot</a:t>
            </a:r>
          </a:p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PD-NOMA (SIC) or SCMA-style rate per pair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84583" y="7942583"/>
            <a:ext cx="16118843" cy="1214123"/>
            <a:chOff x="0" y="0"/>
            <a:chExt cx="21491791" cy="16188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491829" cy="1618869"/>
            </a:xfrm>
            <a:custGeom>
              <a:avLst/>
              <a:gdLst/>
              <a:ahLst/>
              <a:cxnLst/>
              <a:rect r="r" b="b" t="t" l="l"/>
              <a:pathLst>
                <a:path h="1618869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B1F3A"/>
            </a:solidFill>
            <a:ln w="25400" cap="sq">
              <a:solidFill>
                <a:srgbClr val="0B1F3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463040" y="7955280"/>
            <a:ext cx="15361920" cy="1188720"/>
            <a:chOff x="0" y="0"/>
            <a:chExt cx="20482560" cy="158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4825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806" r="0" b="-20180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2048256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 of the GNN: it outputs pair scores and slot preferences. Final pairs and slots come from the rule-based steps.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097280"/>
            <a:chOff x="0" y="0"/>
            <a:chExt cx="214579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45792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Workflow / Implementation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44800" y="9471660"/>
            <a:ext cx="16459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5 / 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84583" y="2181863"/>
            <a:ext cx="2494283" cy="3683003"/>
            <a:chOff x="0" y="0"/>
            <a:chExt cx="3325711" cy="49106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25749" cy="4910709"/>
            </a:xfrm>
            <a:custGeom>
              <a:avLst/>
              <a:gdLst/>
              <a:ahLst/>
              <a:cxnLst/>
              <a:rect r="r" b="b" t="t" l="l"/>
              <a:pathLst>
                <a:path h="4910709" w="3325749">
                  <a:moveTo>
                    <a:pt x="0" y="0"/>
                  </a:moveTo>
                  <a:lnTo>
                    <a:pt x="3325749" y="0"/>
                  </a:lnTo>
                  <a:lnTo>
                    <a:pt x="3325749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16736" y="2310765"/>
            <a:ext cx="73152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6736" y="3162300"/>
            <a:ext cx="210312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Generate channels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6736" y="4442460"/>
            <a:ext cx="210312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channel_model.py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827783" y="2181863"/>
            <a:ext cx="2494283" cy="3683003"/>
            <a:chOff x="0" y="0"/>
            <a:chExt cx="3325711" cy="4910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25749" cy="4910709"/>
            </a:xfrm>
            <a:custGeom>
              <a:avLst/>
              <a:gdLst/>
              <a:ahLst/>
              <a:cxnLst/>
              <a:rect r="r" b="b" t="t" l="l"/>
              <a:pathLst>
                <a:path h="4910709" w="3325749">
                  <a:moveTo>
                    <a:pt x="0" y="0"/>
                  </a:moveTo>
                  <a:lnTo>
                    <a:pt x="3325749" y="0"/>
                  </a:lnTo>
                  <a:lnTo>
                    <a:pt x="3325749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059936" y="2310765"/>
            <a:ext cx="73152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59936" y="3162300"/>
            <a:ext cx="210312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Reference labels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59936" y="4442460"/>
            <a:ext cx="210312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optimization.py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70983" y="2181863"/>
            <a:ext cx="2494283" cy="3683003"/>
            <a:chOff x="0" y="0"/>
            <a:chExt cx="3325711" cy="49106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25749" cy="4910709"/>
            </a:xfrm>
            <a:custGeom>
              <a:avLst/>
              <a:gdLst/>
              <a:ahLst/>
              <a:cxnLst/>
              <a:rect r="r" b="b" t="t" l="l"/>
              <a:pathLst>
                <a:path h="4910709" w="3325749">
                  <a:moveTo>
                    <a:pt x="0" y="0"/>
                  </a:moveTo>
                  <a:lnTo>
                    <a:pt x="3325749" y="0"/>
                  </a:lnTo>
                  <a:lnTo>
                    <a:pt x="3325749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803136" y="2310765"/>
            <a:ext cx="73152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03136" y="3162300"/>
            <a:ext cx="210312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 user graph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03136" y="4442460"/>
            <a:ext cx="210312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graph_builder.py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14183" y="2181863"/>
            <a:ext cx="2494283" cy="3683003"/>
            <a:chOff x="0" y="0"/>
            <a:chExt cx="3325711" cy="49106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25749" cy="4910709"/>
            </a:xfrm>
            <a:custGeom>
              <a:avLst/>
              <a:gdLst/>
              <a:ahLst/>
              <a:cxnLst/>
              <a:rect r="r" b="b" t="t" l="l"/>
              <a:pathLst>
                <a:path h="4910709" w="3325749">
                  <a:moveTo>
                    <a:pt x="0" y="0"/>
                  </a:moveTo>
                  <a:lnTo>
                    <a:pt x="3325749" y="0"/>
                  </a:lnTo>
                  <a:lnTo>
                    <a:pt x="3325749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546336" y="2310765"/>
            <a:ext cx="73152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46336" y="3162300"/>
            <a:ext cx="210312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Train GNN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46336" y="4442460"/>
            <a:ext cx="210312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gnn_model.py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training.py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57383" y="2181863"/>
            <a:ext cx="2494283" cy="3683003"/>
            <a:chOff x="0" y="0"/>
            <a:chExt cx="3325711" cy="49106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25749" cy="4910709"/>
            </a:xfrm>
            <a:custGeom>
              <a:avLst/>
              <a:gdLst/>
              <a:ahLst/>
              <a:cxnLst/>
              <a:rect r="r" b="b" t="t" l="l"/>
              <a:pathLst>
                <a:path h="4910709" w="3325749">
                  <a:moveTo>
                    <a:pt x="0" y="0"/>
                  </a:moveTo>
                  <a:lnTo>
                    <a:pt x="3325749" y="0"/>
                  </a:lnTo>
                  <a:lnTo>
                    <a:pt x="3325749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2289536" y="2310765"/>
            <a:ext cx="73152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89536" y="3162300"/>
            <a:ext cx="210312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Pair users + assign slots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89536" y="4442460"/>
            <a:ext cx="210312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pairing.py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slot_assignment.py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800583" y="2181863"/>
            <a:ext cx="2494283" cy="3683003"/>
            <a:chOff x="0" y="0"/>
            <a:chExt cx="3325711" cy="49106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25749" cy="4910709"/>
            </a:xfrm>
            <a:custGeom>
              <a:avLst/>
              <a:gdLst/>
              <a:ahLst/>
              <a:cxnLst/>
              <a:rect r="r" b="b" t="t" l="l"/>
              <a:pathLst>
                <a:path h="4910709" w="3325749">
                  <a:moveTo>
                    <a:pt x="0" y="0"/>
                  </a:moveTo>
                  <a:lnTo>
                    <a:pt x="3325749" y="0"/>
                  </a:lnTo>
                  <a:lnTo>
                    <a:pt x="3325749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5032736" y="2310765"/>
            <a:ext cx="731520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032736" y="3162300"/>
            <a:ext cx="210312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Evaluate + plot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032736" y="4442460"/>
            <a:ext cx="210312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evaluation.py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visualization.py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7280" y="6517005"/>
            <a:ext cx="7315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7280" y="7258050"/>
            <a:ext cx="7680960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Trained model, metrics CSV / JSON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Figures and summary report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09760" y="6517005"/>
            <a:ext cx="7315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Run and check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09760" y="7258050"/>
            <a:ext cx="7680960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main.py --users 10 --epochs 25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32 automated tests pass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097280"/>
            <a:chOff x="0" y="0"/>
            <a:chExt cx="214579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45792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Compared Methods &amp; Communication Models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44800" y="9471660"/>
            <a:ext cx="16459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6 / 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84583" y="2181863"/>
            <a:ext cx="7889243" cy="5877563"/>
            <a:chOff x="0" y="0"/>
            <a:chExt cx="10518991" cy="78367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19029" cy="7836789"/>
            </a:xfrm>
            <a:custGeom>
              <a:avLst/>
              <a:gdLst/>
              <a:ahLst/>
              <a:cxnLst/>
              <a:rect r="r" b="b" t="t" l="l"/>
              <a:pathLst>
                <a:path h="783678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7836789"/>
                  </a:lnTo>
                  <a:lnTo>
                    <a:pt x="0" y="783678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314183" y="2181863"/>
            <a:ext cx="7889243" cy="5877563"/>
            <a:chOff x="0" y="0"/>
            <a:chExt cx="10518991" cy="78367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19029" cy="7836789"/>
            </a:xfrm>
            <a:custGeom>
              <a:avLst/>
              <a:gdLst/>
              <a:ahLst/>
              <a:cxnLst/>
              <a:rect r="r" b="b" t="t" l="l"/>
              <a:pathLst>
                <a:path h="783678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7836789"/>
                  </a:lnTo>
                  <a:lnTo>
                    <a:pt x="0" y="783678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463040" y="2493645"/>
            <a:ext cx="713232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Communication models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3040" y="3417570"/>
            <a:ext cx="7132320" cy="444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PD-NOMA: 2 users per slot, SIC at the strong user</a:t>
            </a:r>
          </a:p>
          <a:p>
            <a:pPr algn="l" marL="651510" indent="-32575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SCMA: MPA detector tested separately; scheduler uses a rate estimate</a:t>
            </a:r>
          </a:p>
          <a:p>
            <a:pPr algn="l" marL="651510" indent="-32575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OMA: one user per slot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92640" y="2493645"/>
            <a:ext cx="713232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Pairing methods compared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2640" y="3417570"/>
            <a:ext cx="7132320" cy="444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10" indent="-32575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pairing</a:t>
            </a:r>
          </a:p>
          <a:p>
            <a:pPr algn="l" marL="651510" indent="-32575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Near-Far (weakest with strongest)</a:t>
            </a:r>
          </a:p>
          <a:p>
            <a:pPr algn="l" marL="651510" indent="-32575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Greedy sum-rate pairing</a:t>
            </a:r>
          </a:p>
          <a:p>
            <a:pPr algn="l" marL="651510" indent="-32575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Optimization reference (exhaustive)</a:t>
            </a:r>
          </a:p>
          <a:p>
            <a:pPr algn="l" marL="651510" indent="-32575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1F2A3C"/>
                </a:solidFill>
                <a:latin typeface="Calibri (MS)"/>
                <a:ea typeface="Calibri (MS)"/>
                <a:cs typeface="Calibri (MS)"/>
                <a:sym typeface="Calibri (MS)"/>
              </a:rPr>
              <a:t>GNN pairing (proposed)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7280" y="8364855"/>
            <a:ext cx="1609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i="true">
                <a:solidFill>
                  <a:srgbClr val="5B6B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All methods use the same 50 test networks.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097280"/>
            <a:chOff x="0" y="0"/>
            <a:chExt cx="214579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45792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Results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44800" y="9471660"/>
            <a:ext cx="16459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7 / 10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97280" y="2414016"/>
          <a:ext cx="9855200" cy="4800600"/>
        </p:xfrm>
        <a:graphic>
          <a:graphicData uri="http://schemas.openxmlformats.org/drawingml/2006/table">
            <a:tbl>
              <a:tblPr/>
              <a:tblGrid>
                <a:gridCol w="3818639"/>
                <a:gridCol w="2192832"/>
                <a:gridCol w="2012187"/>
                <a:gridCol w="1831542"/>
              </a:tblGrid>
              <a:tr h="685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Sum rate (Mbps)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Jain fairness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Outage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OMA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19.90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0.347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50.33 %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pairing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15.64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0.594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1.67 %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Near-Far pairing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15.80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Greedy pairing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16.66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5.33 %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Optimization reference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17.00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0.547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1F2A3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1.33 %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F2A3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GNN pairing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F2A3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16.51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F2A3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0.542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1F2A3C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4.67 %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1EE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97280" y="1790700"/>
            <a:ext cx="9875520" cy="55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Communication Performance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21440" y="1790700"/>
            <a:ext cx="5669280" cy="55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Observations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84583" y="7576823"/>
            <a:ext cx="9900923" cy="1342139"/>
            <a:chOff x="0" y="0"/>
            <a:chExt cx="13201231" cy="17895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01269" cy="1789557"/>
            </a:xfrm>
            <a:custGeom>
              <a:avLst/>
              <a:gdLst/>
              <a:ahLst/>
              <a:cxnLst/>
              <a:rect r="r" b="b" t="t" l="l"/>
              <a:pathLst>
                <a:path h="1789557" w="13201269">
                  <a:moveTo>
                    <a:pt x="0" y="0"/>
                  </a:moveTo>
                  <a:lnTo>
                    <a:pt x="13201269" y="0"/>
                  </a:lnTo>
                  <a:lnTo>
                    <a:pt x="13201269" y="1789557"/>
                  </a:lnTo>
                  <a:lnTo>
                    <a:pt x="0" y="1789557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426464" y="7680960"/>
            <a:ext cx="9235440" cy="1133856"/>
            <a:chOff x="0" y="0"/>
            <a:chExt cx="12313920" cy="15118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313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313920">
                  <a:moveTo>
                    <a:pt x="0" y="0"/>
                  </a:moveTo>
                  <a:lnTo>
                    <a:pt x="12313920" y="0"/>
                  </a:lnTo>
                  <a:lnTo>
                    <a:pt x="123139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708" r="0" b="-10870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313920" cy="1549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Network Configuration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Users: 6  ·  Slots: 3  ·  Train / Val / Test: 200 / 40 / 50  ·  Data: Synthetic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508743" y="2401319"/>
            <a:ext cx="5694683" cy="1488443"/>
            <a:chOff x="0" y="0"/>
            <a:chExt cx="7592911" cy="19845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92949" cy="1984629"/>
            </a:xfrm>
            <a:custGeom>
              <a:avLst/>
              <a:gdLst/>
              <a:ahLst/>
              <a:cxnLst/>
              <a:rect r="r" b="b" t="t" l="l"/>
              <a:pathLst>
                <a:path h="198462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795760" y="2487168"/>
            <a:ext cx="5212080" cy="1316736"/>
            <a:chOff x="0" y="0"/>
            <a:chExt cx="6949440" cy="17556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494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9494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GNN close to the reference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A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16.51 vs 17.00 Mbps; fairness 0.542 vs 0.547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08743" y="4019807"/>
            <a:ext cx="5694683" cy="1488443"/>
            <a:chOff x="0" y="0"/>
            <a:chExt cx="7592911" cy="19845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92949" cy="1984629"/>
            </a:xfrm>
            <a:custGeom>
              <a:avLst/>
              <a:gdLst/>
              <a:ahLst/>
              <a:cxnLst/>
              <a:rect r="r" b="b" t="t" l="l"/>
              <a:pathLst>
                <a:path h="198462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795760" y="4105656"/>
            <a:ext cx="5212080" cy="1316736"/>
            <a:chOff x="0" y="0"/>
            <a:chExt cx="6949440" cy="17556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494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494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GNN outage: 4.67 %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A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Reference outage is 1.33 %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508743" y="5638295"/>
            <a:ext cx="5694683" cy="1488443"/>
            <a:chOff x="0" y="0"/>
            <a:chExt cx="7592911" cy="19845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92949" cy="1984629"/>
            </a:xfrm>
            <a:custGeom>
              <a:avLst/>
              <a:gdLst/>
              <a:ahLst/>
              <a:cxnLst/>
              <a:rect r="r" b="b" t="t" l="l"/>
              <a:pathLst>
                <a:path h="198462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795760" y="5724144"/>
            <a:ext cx="5212080" cy="1316736"/>
            <a:chOff x="0" y="0"/>
            <a:chExt cx="6949440" cy="1755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494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9494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OMA: high rate, 50.33 % outage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A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one user can use a slot at a time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08743" y="7256783"/>
            <a:ext cx="5694683" cy="1488443"/>
            <a:chOff x="0" y="0"/>
            <a:chExt cx="7592911" cy="19845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92949" cy="1984629"/>
            </a:xfrm>
            <a:custGeom>
              <a:avLst/>
              <a:gdLst/>
              <a:ahLst/>
              <a:cxnLst/>
              <a:rect r="r" b="b" t="t" l="l"/>
              <a:pathLst>
                <a:path h="198462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795760" y="7342632"/>
            <a:ext cx="5212080" cy="1316736"/>
            <a:chOff x="0" y="0"/>
            <a:chExt cx="6949440" cy="17556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494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9494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exhaustive search at inference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F2A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GNN gives a learned pairing solution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097280"/>
            <a:chOff x="0" y="0"/>
            <a:chExt cx="214579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45792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Progress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44800" y="9471660"/>
            <a:ext cx="16459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8 / 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84583" y="1907543"/>
            <a:ext cx="5255771" cy="1707899"/>
            <a:chOff x="0" y="0"/>
            <a:chExt cx="7007695" cy="22771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07733" cy="2277237"/>
            </a:xfrm>
            <a:custGeom>
              <a:avLst/>
              <a:gdLst/>
              <a:ahLst/>
              <a:cxnLst/>
              <a:rect r="r" b="b" t="t" l="l"/>
              <a:pathLst>
                <a:path h="2277237" w="7007733">
                  <a:moveTo>
                    <a:pt x="0" y="0"/>
                  </a:moveTo>
                  <a:lnTo>
                    <a:pt x="7007733" y="0"/>
                  </a:lnTo>
                  <a:lnTo>
                    <a:pt x="7007733" y="2277237"/>
                  </a:lnTo>
                  <a:lnTo>
                    <a:pt x="0" y="2277237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16736" y="1920240"/>
            <a:ext cx="548640" cy="1682496"/>
            <a:chOff x="0" y="0"/>
            <a:chExt cx="731520" cy="22433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464" t="0" r="-343464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31520" cy="230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11680" y="2011680"/>
            <a:ext cx="4133088" cy="1499616"/>
            <a:chOff x="0" y="0"/>
            <a:chExt cx="5510784" cy="1999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107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5510781">
                  <a:moveTo>
                    <a:pt x="0" y="0"/>
                  </a:moveTo>
                  <a:lnTo>
                    <a:pt x="5510781" y="0"/>
                  </a:lnTo>
                  <a:lnTo>
                    <a:pt x="5510781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2" r="0" b="-37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510784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Synthetic wireless data generation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Channel conditions and user features generated programmatically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16119" y="1907543"/>
            <a:ext cx="5255771" cy="1707899"/>
            <a:chOff x="0" y="0"/>
            <a:chExt cx="7007695" cy="22771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07733" cy="2277237"/>
            </a:xfrm>
            <a:custGeom>
              <a:avLst/>
              <a:gdLst/>
              <a:ahLst/>
              <a:cxnLst/>
              <a:rect r="r" b="b" t="t" l="l"/>
              <a:pathLst>
                <a:path h="2277237" w="7007733">
                  <a:moveTo>
                    <a:pt x="0" y="0"/>
                  </a:moveTo>
                  <a:lnTo>
                    <a:pt x="7007733" y="0"/>
                  </a:lnTo>
                  <a:lnTo>
                    <a:pt x="7007733" y="2277237"/>
                  </a:lnTo>
                  <a:lnTo>
                    <a:pt x="0" y="2277237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748272" y="1920240"/>
            <a:ext cx="548640" cy="1682496"/>
            <a:chOff x="0" y="0"/>
            <a:chExt cx="731520" cy="22433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464" t="0" r="-343464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731520" cy="230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43216" y="2011680"/>
            <a:ext cx="4133088" cy="1499616"/>
            <a:chOff x="0" y="0"/>
            <a:chExt cx="5510784" cy="19994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107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5510781">
                  <a:moveTo>
                    <a:pt x="0" y="0"/>
                  </a:moveTo>
                  <a:lnTo>
                    <a:pt x="5510781" y="0"/>
                  </a:lnTo>
                  <a:lnTo>
                    <a:pt x="5510781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2" r="0" b="-370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510784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 construction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position, distance, channel gain and rate requirement used as features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947646" y="1907543"/>
            <a:ext cx="5255771" cy="1707899"/>
            <a:chOff x="0" y="0"/>
            <a:chExt cx="7007695" cy="227719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07733" cy="2277237"/>
            </a:xfrm>
            <a:custGeom>
              <a:avLst/>
              <a:gdLst/>
              <a:ahLst/>
              <a:cxnLst/>
              <a:rect r="r" b="b" t="t" l="l"/>
              <a:pathLst>
                <a:path h="2277237" w="7007733">
                  <a:moveTo>
                    <a:pt x="0" y="0"/>
                  </a:moveTo>
                  <a:lnTo>
                    <a:pt x="7007733" y="0"/>
                  </a:lnTo>
                  <a:lnTo>
                    <a:pt x="7007733" y="2277237"/>
                  </a:lnTo>
                  <a:lnTo>
                    <a:pt x="0" y="2277237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179808" y="1920240"/>
            <a:ext cx="548640" cy="1682496"/>
            <a:chOff x="0" y="0"/>
            <a:chExt cx="731520" cy="22433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464" t="0" r="-34346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731520" cy="230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874752" y="2011680"/>
            <a:ext cx="4133088" cy="1499616"/>
            <a:chOff x="0" y="0"/>
            <a:chExt cx="5510784" cy="19994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107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5510781">
                  <a:moveTo>
                    <a:pt x="0" y="0"/>
                  </a:moveTo>
                  <a:lnTo>
                    <a:pt x="5510781" y="0"/>
                  </a:lnTo>
                  <a:lnTo>
                    <a:pt x="5510781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2" r="0" b="-370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510784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Exhaustive reference generation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Search-based reference used to provide pairing labels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4583" y="3754631"/>
            <a:ext cx="5255771" cy="1707899"/>
            <a:chOff x="0" y="0"/>
            <a:chExt cx="7007695" cy="22771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07733" cy="2277237"/>
            </a:xfrm>
            <a:custGeom>
              <a:avLst/>
              <a:gdLst/>
              <a:ahLst/>
              <a:cxnLst/>
              <a:rect r="r" b="b" t="t" l="l"/>
              <a:pathLst>
                <a:path h="2277237" w="7007733">
                  <a:moveTo>
                    <a:pt x="0" y="0"/>
                  </a:moveTo>
                  <a:lnTo>
                    <a:pt x="7007733" y="0"/>
                  </a:lnTo>
                  <a:lnTo>
                    <a:pt x="7007733" y="2277237"/>
                  </a:lnTo>
                  <a:lnTo>
                    <a:pt x="0" y="2277237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16736" y="3767328"/>
            <a:ext cx="548640" cy="1682496"/>
            <a:chOff x="0" y="0"/>
            <a:chExt cx="731520" cy="22433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464" t="0" r="-34346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731520" cy="230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11680" y="3858768"/>
            <a:ext cx="4133088" cy="1499616"/>
            <a:chOff x="0" y="0"/>
            <a:chExt cx="5510784" cy="19994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107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5510781">
                  <a:moveTo>
                    <a:pt x="0" y="0"/>
                  </a:moveTo>
                  <a:lnTo>
                    <a:pt x="5510781" y="0"/>
                  </a:lnTo>
                  <a:lnTo>
                    <a:pt x="5510781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2" r="0" b="-370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510784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GNN pairing and slot preference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GNN predicts suitable user pairs and slot preferences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16119" y="3754631"/>
            <a:ext cx="5255771" cy="1707899"/>
            <a:chOff x="0" y="0"/>
            <a:chExt cx="7007695" cy="22771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07733" cy="2277237"/>
            </a:xfrm>
            <a:custGeom>
              <a:avLst/>
              <a:gdLst/>
              <a:ahLst/>
              <a:cxnLst/>
              <a:rect r="r" b="b" t="t" l="l"/>
              <a:pathLst>
                <a:path h="2277237" w="7007733">
                  <a:moveTo>
                    <a:pt x="0" y="0"/>
                  </a:moveTo>
                  <a:lnTo>
                    <a:pt x="7007733" y="0"/>
                  </a:lnTo>
                  <a:lnTo>
                    <a:pt x="7007733" y="2277237"/>
                  </a:lnTo>
                  <a:lnTo>
                    <a:pt x="0" y="2277237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6748272" y="3767328"/>
            <a:ext cx="548640" cy="1682496"/>
            <a:chOff x="0" y="0"/>
            <a:chExt cx="731520" cy="22433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464" t="0" r="-34346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731520" cy="230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443216" y="3858768"/>
            <a:ext cx="4133088" cy="1499616"/>
            <a:chOff x="0" y="0"/>
            <a:chExt cx="5510784" cy="19994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107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5510781">
                  <a:moveTo>
                    <a:pt x="0" y="0"/>
                  </a:moveTo>
                  <a:lnTo>
                    <a:pt x="5510781" y="0"/>
                  </a:lnTo>
                  <a:lnTo>
                    <a:pt x="5510781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2" r="0" b="-370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5510784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Multiple pairing methods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Random, Near-Far, Greedy, Optimization and GNN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947646" y="3754631"/>
            <a:ext cx="5255771" cy="1707899"/>
            <a:chOff x="0" y="0"/>
            <a:chExt cx="7007695" cy="227719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007733" cy="2277237"/>
            </a:xfrm>
            <a:custGeom>
              <a:avLst/>
              <a:gdLst/>
              <a:ahLst/>
              <a:cxnLst/>
              <a:rect r="r" b="b" t="t" l="l"/>
              <a:pathLst>
                <a:path h="2277237" w="7007733">
                  <a:moveTo>
                    <a:pt x="0" y="0"/>
                  </a:moveTo>
                  <a:lnTo>
                    <a:pt x="7007733" y="0"/>
                  </a:lnTo>
                  <a:lnTo>
                    <a:pt x="7007733" y="2277237"/>
                  </a:lnTo>
                  <a:lnTo>
                    <a:pt x="0" y="2277237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2179808" y="3767328"/>
            <a:ext cx="548640" cy="1682496"/>
            <a:chOff x="0" y="0"/>
            <a:chExt cx="731520" cy="22433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152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464" t="0" r="-343464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731520" cy="230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874752" y="3858768"/>
            <a:ext cx="4133088" cy="1499616"/>
            <a:chOff x="0" y="0"/>
            <a:chExt cx="5510784" cy="19994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5107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5510781">
                  <a:moveTo>
                    <a:pt x="0" y="0"/>
                  </a:moveTo>
                  <a:lnTo>
                    <a:pt x="5510781" y="0"/>
                  </a:lnTo>
                  <a:lnTo>
                    <a:pt x="5510781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2" r="0" b="-370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5510784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PD-NOMA with SIC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Power-domain NOMA with Successive Interference Cancellation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84583" y="5601719"/>
            <a:ext cx="5255771" cy="1707899"/>
            <a:chOff x="0" y="0"/>
            <a:chExt cx="7007695" cy="227719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007733" cy="2277237"/>
            </a:xfrm>
            <a:custGeom>
              <a:avLst/>
              <a:gdLst/>
              <a:ahLst/>
              <a:cxnLst/>
              <a:rect r="r" b="b" t="t" l="l"/>
              <a:pathLst>
                <a:path h="2277237" w="7007733">
                  <a:moveTo>
                    <a:pt x="0" y="0"/>
                  </a:moveTo>
                  <a:lnTo>
                    <a:pt x="7007733" y="0"/>
                  </a:lnTo>
                  <a:lnTo>
                    <a:pt x="7007733" y="2277237"/>
                  </a:lnTo>
                  <a:lnTo>
                    <a:pt x="0" y="2277237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16736" y="5614416"/>
            <a:ext cx="548640" cy="1682496"/>
            <a:chOff x="0" y="0"/>
            <a:chExt cx="731520" cy="22433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464" t="0" r="-343464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731520" cy="230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011680" y="5705856"/>
            <a:ext cx="4133088" cy="1499616"/>
            <a:chOff x="0" y="0"/>
            <a:chExt cx="5510784" cy="19994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5107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5510781">
                  <a:moveTo>
                    <a:pt x="0" y="0"/>
                  </a:moveTo>
                  <a:lnTo>
                    <a:pt x="5510781" y="0"/>
                  </a:lnTo>
                  <a:lnTo>
                    <a:pt x="5510781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2" r="0" b="-370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5510784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SCMA detector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SCMA MPA detector evaluated using BER, SER and SNR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516119" y="5601719"/>
            <a:ext cx="5255771" cy="1707899"/>
            <a:chOff x="0" y="0"/>
            <a:chExt cx="7007695" cy="227719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07733" cy="2277237"/>
            </a:xfrm>
            <a:custGeom>
              <a:avLst/>
              <a:gdLst/>
              <a:ahLst/>
              <a:cxnLst/>
              <a:rect r="r" b="b" t="t" l="l"/>
              <a:pathLst>
                <a:path h="2277237" w="7007733">
                  <a:moveTo>
                    <a:pt x="0" y="0"/>
                  </a:moveTo>
                  <a:lnTo>
                    <a:pt x="7007733" y="0"/>
                  </a:lnTo>
                  <a:lnTo>
                    <a:pt x="7007733" y="2277237"/>
                  </a:lnTo>
                  <a:lnTo>
                    <a:pt x="0" y="2277237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6748272" y="5614416"/>
            <a:ext cx="548640" cy="1682496"/>
            <a:chOff x="0" y="0"/>
            <a:chExt cx="731520" cy="224332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152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464" t="0" r="-343464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731520" cy="230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443216" y="5705856"/>
            <a:ext cx="4133088" cy="1499616"/>
            <a:chOff x="0" y="0"/>
            <a:chExt cx="5510784" cy="19994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5107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5510781">
                  <a:moveTo>
                    <a:pt x="0" y="0"/>
                  </a:moveTo>
                  <a:lnTo>
                    <a:pt x="5510781" y="0"/>
                  </a:lnTo>
                  <a:lnTo>
                    <a:pt x="5510781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2" r="0" b="-370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5510784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Classical ML baselines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Linear Regression and Random Forest evaluated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947646" y="5601719"/>
            <a:ext cx="5255771" cy="1707899"/>
            <a:chOff x="0" y="0"/>
            <a:chExt cx="7007695" cy="227719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007733" cy="2277237"/>
            </a:xfrm>
            <a:custGeom>
              <a:avLst/>
              <a:gdLst/>
              <a:ahLst/>
              <a:cxnLst/>
              <a:rect r="r" b="b" t="t" l="l"/>
              <a:pathLst>
                <a:path h="2277237" w="7007733">
                  <a:moveTo>
                    <a:pt x="0" y="0"/>
                  </a:moveTo>
                  <a:lnTo>
                    <a:pt x="7007733" y="0"/>
                  </a:lnTo>
                  <a:lnTo>
                    <a:pt x="7007733" y="2277237"/>
                  </a:lnTo>
                  <a:lnTo>
                    <a:pt x="0" y="2277237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2179808" y="5614416"/>
            <a:ext cx="548640" cy="1682496"/>
            <a:chOff x="0" y="0"/>
            <a:chExt cx="731520" cy="224332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152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3464" t="0" r="-343464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731520" cy="23004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874752" y="5705856"/>
            <a:ext cx="4133088" cy="1499616"/>
            <a:chOff x="0" y="0"/>
            <a:chExt cx="5510784" cy="199948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510781" cy="1999488"/>
            </a:xfrm>
            <a:custGeom>
              <a:avLst/>
              <a:gdLst/>
              <a:ahLst/>
              <a:cxnLst/>
              <a:rect r="r" b="b" t="t" l="l"/>
              <a:pathLst>
                <a:path h="1999488" w="5510781">
                  <a:moveTo>
                    <a:pt x="0" y="0"/>
                  </a:moveTo>
                  <a:lnTo>
                    <a:pt x="5510781" y="0"/>
                  </a:lnTo>
                  <a:lnTo>
                    <a:pt x="5510781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02" r="0" b="-370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5510784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Automated evaluation and outputs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Graphs, CSV / JSON results and automated tests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84583" y="7668263"/>
            <a:ext cx="16118843" cy="939803"/>
            <a:chOff x="0" y="0"/>
            <a:chExt cx="21491791" cy="125307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49182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463040" y="7680960"/>
            <a:ext cx="15361920" cy="914400"/>
            <a:chOff x="0" y="0"/>
            <a:chExt cx="20482560" cy="1219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04825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348" r="0" b="-27734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2048256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GNN result:   16.51 Mbps total rate   ·   2.75 Mbps average user rate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097280" y="8730615"/>
            <a:ext cx="1609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5B6B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SCMA detector is implemented and evaluated; deeper scheduler integration remains future work.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097280"/>
            <a:chOff x="0" y="0"/>
            <a:chExt cx="214579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45792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Remaining Work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44800" y="9471660"/>
            <a:ext cx="16459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80"/>
                </a:solidFill>
                <a:latin typeface="Calibri (MS)"/>
                <a:ea typeface="Calibri (MS)"/>
                <a:cs typeface="Calibri (MS)"/>
                <a:sym typeface="Calibri (MS)"/>
              </a:rPr>
              <a:t>9 / 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84583" y="2666505"/>
            <a:ext cx="7889243" cy="1854203"/>
            <a:chOff x="0" y="0"/>
            <a:chExt cx="10518991" cy="2472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19029" cy="2472309"/>
            </a:xfrm>
            <a:custGeom>
              <a:avLst/>
              <a:gdLst/>
              <a:ahLst/>
              <a:cxnLst/>
              <a:rect r="r" b="b" t="t" l="l"/>
              <a:pathLst>
                <a:path h="247230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16736" y="2679202"/>
            <a:ext cx="640080" cy="1828800"/>
            <a:chOff x="0" y="0"/>
            <a:chExt cx="85344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6581" t="0" r="-316581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853440" cy="2524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03120" y="2770642"/>
            <a:ext cx="6675120" cy="1645920"/>
            <a:chOff x="0" y="0"/>
            <a:chExt cx="8900160" cy="21945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00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900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 SCMA–scheduler integration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 the actual SCMA detector directly with the hybrid scheduler instead of using only a rate estimate.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14183" y="2666505"/>
            <a:ext cx="7889243" cy="1854203"/>
            <a:chOff x="0" y="0"/>
            <a:chExt cx="10518991" cy="24722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19029" cy="2472309"/>
            </a:xfrm>
            <a:custGeom>
              <a:avLst/>
              <a:gdLst/>
              <a:ahLst/>
              <a:cxnLst/>
              <a:rect r="r" b="b" t="t" l="l"/>
              <a:pathLst>
                <a:path h="247230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546336" y="2679202"/>
            <a:ext cx="640080" cy="1828800"/>
            <a:chOff x="0" y="0"/>
            <a:chExt cx="853440" cy="2438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3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6581" t="0" r="-31658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853440" cy="2524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332720" y="2770642"/>
            <a:ext cx="6675120" cy="1645920"/>
            <a:chOff x="0" y="0"/>
            <a:chExt cx="890016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900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900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 GNN on the final objective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Move beyond imitating reference labels; directly optimize for high sum rate, low outage and good fairness.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4583" y="5350259"/>
            <a:ext cx="7889243" cy="1854203"/>
            <a:chOff x="0" y="0"/>
            <a:chExt cx="10518991" cy="24722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19029" cy="2472309"/>
            </a:xfrm>
            <a:custGeom>
              <a:avLst/>
              <a:gdLst/>
              <a:ahLst/>
              <a:cxnLst/>
              <a:rect r="r" b="b" t="t" l="l"/>
              <a:pathLst>
                <a:path h="247230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16736" y="5362956"/>
            <a:ext cx="640080" cy="1828800"/>
            <a:chOff x="0" y="0"/>
            <a:chExt cx="853440" cy="2438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3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6581" t="0" r="-316581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853440" cy="2524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03120" y="5454396"/>
            <a:ext cx="6675120" cy="1645920"/>
            <a:chOff x="0" y="0"/>
            <a:chExt cx="8900160" cy="21945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00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900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Validate across multiple random seeds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 multiple independent experiments and report variation / confidence intervals.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14183" y="5258819"/>
            <a:ext cx="7889243" cy="1854203"/>
            <a:chOff x="0" y="0"/>
            <a:chExt cx="10518991" cy="24722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19029" cy="2472309"/>
            </a:xfrm>
            <a:custGeom>
              <a:avLst/>
              <a:gdLst/>
              <a:ahLst/>
              <a:cxnLst/>
              <a:rect r="r" b="b" t="t" l="l"/>
              <a:pathLst>
                <a:path h="247230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546336" y="5271526"/>
            <a:ext cx="640080" cy="1828800"/>
            <a:chOff x="0" y="0"/>
            <a:chExt cx="853440" cy="243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34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6581" t="0" r="-31658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853440" cy="2524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F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332720" y="5362956"/>
            <a:ext cx="6675120" cy="1645920"/>
            <a:chOff x="0" y="0"/>
            <a:chExt cx="8900160" cy="2194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001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22" r="0" b="-2902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9001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Improve scalability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B6B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 larger numbers of users and more user pairs without dropping extra pairs.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84583" y="7942574"/>
            <a:ext cx="16118843" cy="1031243"/>
            <a:chOff x="0" y="0"/>
            <a:chExt cx="21491791" cy="13749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491829" cy="1375029"/>
            </a:xfrm>
            <a:custGeom>
              <a:avLst/>
              <a:gdLst/>
              <a:ahLst/>
              <a:cxnLst/>
              <a:rect r="r" b="b" t="t" l="l"/>
              <a:pathLst>
                <a:path h="1375029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375029"/>
                  </a:lnTo>
                  <a:lnTo>
                    <a:pt x="0" y="1375029"/>
                  </a:lnTo>
                  <a:close/>
                </a:path>
              </a:pathLst>
            </a:custGeom>
            <a:solidFill>
              <a:srgbClr val="EEF3F8"/>
            </a:solidFill>
            <a:ln w="25400" cap="sq">
              <a:solidFill>
                <a:srgbClr val="EEF3F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63040" y="7955280"/>
            <a:ext cx="15361920" cy="1005840"/>
            <a:chOff x="0" y="0"/>
            <a:chExt cx="20482560" cy="1341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4825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589" r="0" b="-24758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048256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GNN-based pairing and communication evaluation pipeline is implemented and experimentally validated.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312795"/>
            <a:ext cx="18288000" cy="180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66610" y="7304531"/>
            <a:ext cx="997269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GIthub:  https://github.com/monicachelle/hybrid-gnn-noma.git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06003" y="8022391"/>
            <a:ext cx="997269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https://github.com/asrithaswarna/Hybrid-NOMA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DAHWjwlDCeE</dc:identifier>
  <dcterms:modified xsi:type="dcterms:W3CDTF">2011-08-01T06:04:30Z</dcterms:modified>
  <cp:revision>1</cp:revision>
  <dc:title>ML_Batch10_Review-2_ PPT</dc:title>
</cp:coreProperties>
</file>