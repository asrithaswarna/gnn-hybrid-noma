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001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583680" y="548640"/>
            <a:ext cx="1097280" cy="274320"/>
          </a:xfrm>
          <a:prstGeom prst="line">
            <a:avLst/>
          </a:prstGeom>
          <a:noFill/>
          <a:ln w="15875">
            <a:solidFill>
              <a:srgbClr val="4C8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548640"/>
            <a:ext cx="457200" cy="1005840"/>
          </a:xfrm>
          <a:prstGeom prst="line">
            <a:avLst/>
          </a:prstGeom>
          <a:noFill/>
          <a:ln w="15875">
            <a:solidFill>
              <a:srgbClr val="4C8D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822960"/>
            <a:ext cx="548640" cy="1097280"/>
          </a:xfrm>
          <a:prstGeom prst="line">
            <a:avLst/>
          </a:prstGeom>
          <a:noFill/>
          <a:ln w="15875">
            <a:solidFill>
              <a:srgbClr val="4C8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132320" y="1554480"/>
            <a:ext cx="1005840" cy="365760"/>
          </a:xfrm>
          <a:prstGeom prst="line">
            <a:avLst/>
          </a:prstGeom>
          <a:noFill/>
          <a:ln w="15875">
            <a:solidFill>
              <a:srgbClr val="4C8D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400800" y="1920240"/>
            <a:ext cx="731520" cy="822960"/>
          </a:xfrm>
          <a:prstGeom prst="line">
            <a:avLst/>
          </a:prstGeom>
          <a:noFill/>
          <a:ln w="15875">
            <a:solidFill>
              <a:srgbClr val="4C8D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920240"/>
            <a:ext cx="640080" cy="1005840"/>
          </a:xfrm>
          <a:prstGeom prst="line">
            <a:avLst/>
          </a:prstGeom>
          <a:noFill/>
          <a:ln w="15875">
            <a:solidFill>
              <a:srgbClr val="4C8D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772400" y="2377440"/>
            <a:ext cx="640080" cy="548640"/>
          </a:xfrm>
          <a:prstGeom prst="line">
            <a:avLst/>
          </a:prstGeom>
          <a:noFill/>
          <a:ln w="15875">
            <a:solidFill>
              <a:srgbClr val="4C8D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554480"/>
            <a:ext cx="274320" cy="822960"/>
          </a:xfrm>
          <a:prstGeom prst="line">
            <a:avLst/>
          </a:prstGeom>
          <a:noFill/>
          <a:ln w="15875">
            <a:solidFill>
              <a:srgbClr val="4C8D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743200"/>
            <a:ext cx="1371600" cy="182880"/>
          </a:xfrm>
          <a:prstGeom prst="line">
            <a:avLst/>
          </a:prstGeom>
          <a:noFill/>
          <a:ln w="15875">
            <a:solidFill>
              <a:srgbClr val="4C8D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55664" y="694944"/>
            <a:ext cx="256032" cy="256032"/>
          </a:xfrm>
          <a:prstGeom prst="ellipse">
            <a:avLst/>
          </a:prstGeom>
          <a:solidFill>
            <a:srgbClr val="DCE9FB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52944" y="420624"/>
            <a:ext cx="256032" cy="256032"/>
          </a:xfrm>
          <a:prstGeom prst="ellipse">
            <a:avLst/>
          </a:prstGeom>
          <a:solidFill>
            <a:srgbClr val="DCE9FB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1426464"/>
            <a:ext cx="256032" cy="256032"/>
          </a:xfrm>
          <a:prstGeom prst="ellipse">
            <a:avLst/>
          </a:prstGeom>
          <a:solidFill>
            <a:srgbClr val="DCE9FB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4304" y="1792224"/>
            <a:ext cx="256032" cy="256032"/>
          </a:xfrm>
          <a:prstGeom prst="ellipse">
            <a:avLst/>
          </a:prstGeom>
          <a:solidFill>
            <a:srgbClr val="4C8DF6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615184"/>
            <a:ext cx="256032" cy="256032"/>
          </a:xfrm>
          <a:prstGeom prst="ellipse">
            <a:avLst/>
          </a:prstGeom>
          <a:solidFill>
            <a:srgbClr val="DCE9FB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44384" y="2798064"/>
            <a:ext cx="256032" cy="256032"/>
          </a:xfrm>
          <a:prstGeom prst="ellipse">
            <a:avLst/>
          </a:prstGeom>
          <a:solidFill>
            <a:srgbClr val="DCE9FB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2249424"/>
            <a:ext cx="256032" cy="256032"/>
          </a:xfrm>
          <a:prstGeom prst="ellipse">
            <a:avLst/>
          </a:prstGeom>
          <a:solidFill>
            <a:srgbClr val="DCE9FB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8229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GNN-BASED DYNAMIC USER PAIRING AND SLOT ASSIGNMENT FOR HYBRID NOMA NETWORKS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DB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Review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918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: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Monica Raghini Chelle (2520040093)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Asritha (2520040114)</a:t>
            </a:r>
          </a:p>
          <a:p>
            <a:r>
              <a:rPr lang="en-US" sz="1400" dirty="0" err="1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Bagili</a:t>
            </a:r>
            <a:r>
              <a:rPr lang="en-US" sz="14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Akshaya (2520040084)</a:t>
            </a:r>
          </a:p>
          <a:p>
            <a:r>
              <a:rPr lang="en-US" sz="14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 </a:t>
            </a:r>
            <a:r>
              <a:rPr lang="en-US" sz="1400" b="1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 :  </a:t>
            </a:r>
            <a:r>
              <a:rPr lang="en-US" sz="14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L. Lava Prasad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:</a:t>
            </a:r>
            <a:r>
              <a:rPr lang="en-US" sz="14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Electronics and Communication Engineering</a:t>
            </a:r>
            <a:r>
              <a:rPr lang="en-US" sz="1400" dirty="0"/>
              <a:t>	   </a:t>
            </a:r>
            <a:r>
              <a:rPr lang="en-US" sz="1400" b="1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:  </a:t>
            </a:r>
            <a:r>
              <a:rPr lang="en-US" sz="14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972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per slot; simple but limits spectral efficiency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1097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37560" y="10972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PD-NOMA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share a slot by power levels; SIC separates them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0972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codebooks; MPA detector recovers users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8892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NOMA combines PD-NOMA and SCMA across slots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users to pair, and in which slot, drives the sum 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a graph neural network to learn pairing and slot preferences from user and channel data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user pairs and slots for hybrid NOMA is a combinatorial problem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the wrong users raises interference and lowers the sum 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gains differ widely between users, so good pairs are not obvious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are limited: one allocation per slot, spare slots stay idle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heuristics do not adapt to changing channels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94960" y="10972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40680" y="1097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paired 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94960" y="2286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40680" y="2286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Channel-gain gap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near-far differences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347472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3474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limits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allocation per slot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51560" y="118872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1887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users and channel relations as a graph for a hybrid NOMA cell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7800" y="118872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11887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user pairing and slot assignment with an edge-aware GNN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292608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29260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OMA, Random, Near-Far, Greedy and Optimization Reference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57800" y="292608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29260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sum rate, fairness and outage from seeded, reproducible runs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Saito et al., 2013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NOMA for cellular radio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Nikopour and Baligh, 2013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sparse code multiple access (SCMA)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 et al., 2015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NOMA solutions and challenges for 5G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Ding et al., 2017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Surveyed NOMA research challenges and trends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Kipf and Welling, 2017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convolutional networks for node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GNN-learned pairing and slot assignment for hybrid PD-NOMA / SCMA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are in the references slide. Add any further papers you used.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and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parameters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01368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47088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44368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36976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82696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processing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79976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72584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8304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pairing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15584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08192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53912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assignment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51192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43800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evaluation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194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 and GNN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5603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users with x, y, distance, channel gain (linear, dB), SNR, minimum 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features feed an edge-aware GNN (HybridNOMAGNN)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pair affinities and slot-preference logits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194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PD-NOMA and SCMA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5603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PD-NOMA: paired users share a slot with SIC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SCMA: MPA detector, BER and SER vs. SNR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scheduler picks a feasible mode per slot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sizes and edge definition: [from gnn_model]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scenarios (synthetic or CSV); split train / val / test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18488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184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per-user features; build user graph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139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scenarios with a combinatorial oracle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6609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GNN; keep best validation checkpoint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182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from affinities; slots from logits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schedule: PD-NOMA, SCMA or OMA single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224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rate, fairness, outage vs. baselines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rules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141732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sum rate; fairness and outage reported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allocation per slot; spare slots idle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slots: rule-based conflict resolution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OMA, Random, Near-Far, Greedy, Optimization Reference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Simulation Setup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(CLI default)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slots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(or CSV)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val / test sizes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[from config.yaml]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[from channel_model]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57784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splits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577840" y="146304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topologies with oracle labels, or per-user CSV scenarios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seeds for train, validation and test sets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topologies for all methods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are from main.py; confirm they match the recorded run.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9184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37560" y="11887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model and training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887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metrics tables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8346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regression, clustering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28346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and plots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28346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argparse, YAML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and config.yaml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01368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47088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builder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44368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36976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82696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model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79976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72584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8304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15584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08192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53912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+ slot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51192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43800" y="1097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CE9F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1097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entry point, six run modes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channel_model, data_pipeline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Network, scenarios, graphs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gnn_model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HybridNOMAGNN, edge-aware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DatasetGenerator, GNNTrainer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pairing,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Pairing, schedule, benchmarks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classical_models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regression, clustering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76072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760720" y="237744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evaluate, inference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compare, retrain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config.yaml with CLI overrides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results/metrics, results/figures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Training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3383280"/>
          </a:xfrm>
          <a:prstGeom prst="rect">
            <a:avLst/>
          </a:prstGeom>
          <a:solidFill>
            <a:srgbClr val="F4F8FE"/>
          </a:solidFill>
          <a:ln w="12700">
            <a:solidFill>
              <a:srgbClr val="1F6FE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training_loss_curves.png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results/figures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736299"/>
              </p:ext>
            </p:extLst>
          </p:nvPr>
        </p:nvGraphicFramePr>
        <p:xfrm>
          <a:off x="5303520" y="1097280"/>
          <a:ext cx="3383280" cy="25450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validation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validation epoch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 limit, no early stopping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best_gnn_model.pt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3BEB2BB-00B6-16A9-E766-59A66824D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2" y="1517137"/>
            <a:ext cx="3657608" cy="25290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Pairing and Slot Assignment Results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523163"/>
              </p:ext>
            </p:extLst>
          </p:nvPr>
        </p:nvGraphicFramePr>
        <p:xfrm>
          <a:off x="457200" y="1097280"/>
          <a:ext cx="8229600" cy="1645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U3, U6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SCMA</a:t>
                      </a: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U1, U2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PD-NOMA</a:t>
                      </a: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U0, U8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PD-NOMA</a:t>
                      </a:r>
                      <a:endParaRPr lang="en-US" sz="1300" i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971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comes from GNN affinities; slots from slot-preference logits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rule: at most one allocation per slot; unused slots stay idle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 users get OMA single slots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shows one demo topology; fill from presentation_summary.txt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with Existing Methods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444082"/>
              </p:ext>
            </p:extLst>
          </p:nvPr>
        </p:nvGraphicFramePr>
        <p:xfrm>
          <a:off x="457200" y="1097280"/>
          <a:ext cx="4937760" cy="246278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rate (Mbps)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Outage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 pairing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17.69</a:t>
                      </a: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pairing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Near-far pairing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pairing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1097280"/>
            <a:ext cx="3108960" cy="2377440"/>
          </a:xfrm>
          <a:prstGeom prst="rect">
            <a:avLst/>
          </a:prstGeom>
          <a:solidFill>
            <a:srgbClr val="F4F8FE"/>
          </a:solidFill>
          <a:ln w="12700">
            <a:solidFill>
              <a:srgbClr val="1F6FEB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5577840" y="10972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sum_rate_benchmark.png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results/figures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results/metrics/benchmark_results.csv (mean over test topologies)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regressors (Linear, Ridge, Lasso, Tree, Random Forest) predict rate only; they are not pairing methods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8AF8E-CA12-3870-EBB7-61D1D0A20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290" y="1438656"/>
            <a:ext cx="2748534" cy="16337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126505"/>
              </p:ext>
            </p:extLst>
          </p:nvPr>
        </p:nvGraphicFramePr>
        <p:xfrm>
          <a:off x="457200" y="1097280"/>
          <a:ext cx="4389120" cy="23042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(dB)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(Mbps)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46304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 per metric: state after the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GNN approaches the optimization reference: [run]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SCMA BER and SER trend with SNR: [run]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simulated, not field data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SCMA table: standalone MPA sweep, 100 blocks per SNR.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DB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edge-aware GNN pairing and slot preference, hybrid PD-NOMA / SCMA scheduling, five baselines, SCMA sweep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synthetic unless a CSV is supplied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DB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173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networks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channel datasets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baselines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scheduling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Y. Saito et al., "Non-orthogonal multiple access (NOMA) for cellular future radio access," IEEE VTC Spring, 2013.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H. Nikopour and H. Baligh, "Sparse code multiple access," IEEE PIMRC, 2013.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L. Dai et al., "Non-orthogonal multiple access for 5G: solutions, challenges, opportunities, and future research trends," IEEE Commun. Mag., 2015.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Z. Ding et al., "A survey on non-orthogonal multiple access for 5G networks: research challenges and future trends," IEEE JSAC, 2017.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T. N. Kipf and M. Welling, "Semi-supervised classification with graph convolutional networks," ICLR, 2017.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0" y="36576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31720" y="3657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1296</Words>
  <Application>Microsoft Office PowerPoint</Application>
  <PresentationFormat>On-screen Show (16:9)</PresentationFormat>
  <Paragraphs>298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Swarna Asritha</cp:lastModifiedBy>
  <cp:revision>13</cp:revision>
  <dcterms:created xsi:type="dcterms:W3CDTF">2026-10-14T15:40:45Z</dcterms:created>
  <dcterms:modified xsi:type="dcterms:W3CDTF">2026-10-14T16:21:01Z</dcterms:modified>
</cp:coreProperties>
</file>